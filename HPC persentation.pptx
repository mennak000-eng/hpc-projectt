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 userDrawn="1">
            <p:custDataLst>
              <p:tags r:id="rId2"/>
            </p:custDataLst>
          </p:nvPr>
        </p:nvSpPr>
        <p:spPr>
          <a:xfrm>
            <a:off x="0" y="2640330"/>
            <a:ext cx="3895344" cy="336042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  <p:txBody>
          <a:bodyPr/>
          <a:lstStyle/>
          <a:p>
            <a:pPr defTabSz="914400"/>
            <a:endParaRPr lang="zh-CN" altLang="en-US" sz="1350"/>
          </a:p>
        </p:txBody>
      </p:sp>
      <p:sp>
        <p:nvSpPr>
          <p:cNvPr id="8" name="Ellipse 37 (Stroke)_#color-2083&amp;10102"/>
          <p:cNvSpPr/>
          <p:nvPr userDrawn="1">
            <p:custDataLst>
              <p:tags r:id="rId3"/>
            </p:custDataLst>
          </p:nvPr>
        </p:nvSpPr>
        <p:spPr>
          <a:xfrm>
            <a:off x="0" y="857250"/>
            <a:ext cx="1879092" cy="233172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 userDrawn="1">
            <p:custDataLst>
              <p:tags r:id="rId4"/>
            </p:custDataLst>
          </p:nvPr>
        </p:nvSpPr>
        <p:spPr>
          <a:xfrm>
            <a:off x="7098030" y="4142232"/>
            <a:ext cx="1207008" cy="1207008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 userDrawn="1">
            <p:custDataLst>
              <p:tags r:id="rId5"/>
            </p:custDataLst>
          </p:nvPr>
        </p:nvSpPr>
        <p:spPr>
          <a:xfrm>
            <a:off x="8503920" y="3570637"/>
            <a:ext cx="397764" cy="397764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403032" y="2254091"/>
            <a:ext cx="7100888" cy="1971676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435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5624513"/>
            <a:ext cx="2057400" cy="273844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403032" y="4449845"/>
            <a:ext cx="5619274" cy="88320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" name="Ellipse 36-2082&amp;9912"/>
          <p:cNvSpPr/>
          <p:nvPr userDrawn="1">
            <p:custDataLst>
              <p:tags r:id="rId5"/>
            </p:custDataLst>
          </p:nvPr>
        </p:nvSpPr>
        <p:spPr>
          <a:xfrm>
            <a:off x="5232654" y="1611630"/>
            <a:ext cx="3257550" cy="325755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pPr defTabSz="914400"/>
            <a:endParaRPr lang="en-US" sz="135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Ellipse 37 (Stroke)_#color-2083&amp;10105"/>
          <p:cNvSpPr/>
          <p:nvPr userDrawn="1">
            <p:custDataLst>
              <p:tags r:id="rId6"/>
            </p:custDataLst>
          </p:nvPr>
        </p:nvSpPr>
        <p:spPr>
          <a:xfrm>
            <a:off x="5369814" y="857250"/>
            <a:ext cx="2983230" cy="1693926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781905" y="2835154"/>
            <a:ext cx="2160000" cy="810816"/>
          </a:xfrm>
        </p:spPr>
        <p:txBody>
          <a:bodyPr wrap="square" anchor="b">
            <a:normAutofit/>
          </a:bodyPr>
          <a:lstStyle>
            <a:lvl1pPr algn="ctr">
              <a:defRPr sz="3225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 userDrawn="1">
            <p:custDataLst>
              <p:tags r:id="rId2"/>
            </p:custDataLst>
          </p:nvPr>
        </p:nvSpPr>
        <p:spPr>
          <a:xfrm>
            <a:off x="0" y="1282446"/>
            <a:ext cx="4066794" cy="4718304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 userDrawn="1">
            <p:custDataLst>
              <p:tags r:id="rId3"/>
            </p:custDataLst>
          </p:nvPr>
        </p:nvSpPr>
        <p:spPr>
          <a:xfrm>
            <a:off x="8485632" y="1954530"/>
            <a:ext cx="658368" cy="1049274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 userDrawn="1">
            <p:custDataLst>
              <p:tags r:id="rId4"/>
            </p:custDataLst>
          </p:nvPr>
        </p:nvSpPr>
        <p:spPr>
          <a:xfrm>
            <a:off x="7598664" y="1083564"/>
            <a:ext cx="397764" cy="397764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388168" y="2073593"/>
            <a:ext cx="4098131" cy="2092166"/>
          </a:xfrm>
        </p:spPr>
        <p:txBody>
          <a:bodyPr wrap="square" anchor="ctr" anchorCtr="0">
            <a:normAutofit/>
          </a:bodyPr>
          <a:lstStyle>
            <a:lvl1pPr algn="l">
              <a:defRPr sz="36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847889" y="1356329"/>
            <a:ext cx="3302181" cy="3525728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11475" b="1">
                <a:solidFill>
                  <a:srgbClr val="FFFFFF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521100" y="1880550"/>
            <a:ext cx="3886200" cy="36099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4734900" y="1880550"/>
            <a:ext cx="3886200" cy="36099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1100" y="1127250"/>
            <a:ext cx="8100000" cy="54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100" y="1880550"/>
            <a:ext cx="3868340" cy="405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>
                <a:latin typeface="+mj-lt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521100" y="2403206"/>
            <a:ext cx="3868340" cy="3096291"/>
          </a:xfrm>
        </p:spPr>
        <p:txBody>
          <a:bodyPr wrap="square">
            <a:normAutofit/>
          </a:bodyPr>
          <a:lstStyle>
            <a:lvl1pPr>
              <a:defRPr sz="165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733709" y="1880550"/>
            <a:ext cx="3887391" cy="405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>
                <a:latin typeface="+mj-lt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4733709" y="2403206"/>
            <a:ext cx="3887391" cy="3096291"/>
          </a:xfrm>
        </p:spPr>
        <p:txBody>
          <a:bodyPr wrap="square">
            <a:normAutofit/>
          </a:bodyPr>
          <a:lstStyle>
            <a:lvl1pPr>
              <a:defRPr sz="165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28650" y="1127250"/>
            <a:ext cx="7886700" cy="436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1100" y="1127250"/>
            <a:ext cx="8100000" cy="54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100" y="1829250"/>
            <a:ext cx="8100000" cy="432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1800" b="0">
                <a:latin typeface="+mj-lt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 userDrawn="1">
            <p:custDataLst>
              <p:tags r:id="rId2"/>
            </p:custDataLst>
          </p:nvPr>
        </p:nvSpPr>
        <p:spPr>
          <a:xfrm>
            <a:off x="0" y="2866644"/>
            <a:ext cx="3792474" cy="3134106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 userDrawn="1">
            <p:custDataLst>
              <p:tags r:id="rId3"/>
            </p:custDataLst>
          </p:nvPr>
        </p:nvSpPr>
        <p:spPr>
          <a:xfrm>
            <a:off x="7152894" y="1721358"/>
            <a:ext cx="973836" cy="973836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 userDrawn="1">
            <p:custDataLst>
              <p:tags r:id="rId4"/>
            </p:custDataLst>
          </p:nvPr>
        </p:nvSpPr>
        <p:spPr>
          <a:xfrm>
            <a:off x="0" y="857250"/>
            <a:ext cx="1776222" cy="2558034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 userDrawn="1">
            <p:custDataLst>
              <p:tags r:id="rId5"/>
            </p:custDataLst>
          </p:nvPr>
        </p:nvSpPr>
        <p:spPr>
          <a:xfrm>
            <a:off x="8174736" y="3429000"/>
            <a:ext cx="397764" cy="39776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381125" y="1274064"/>
            <a:ext cx="7572375" cy="2437236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35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5624513"/>
            <a:ext cx="2057400" cy="273844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381125" y="4020218"/>
            <a:ext cx="7572375" cy="1448941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75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 userDrawn="1">
            <p:custDataLst>
              <p:tags r:id="rId12"/>
            </p:custDataLst>
          </p:nvPr>
        </p:nvSpPr>
        <p:spPr>
          <a:xfrm>
            <a:off x="7872984" y="857250"/>
            <a:ext cx="1268730" cy="1193292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3" name="Ellipse 36-2083&amp;10117"/>
          <p:cNvSpPr/>
          <p:nvPr userDrawn="1">
            <p:custDataLst>
              <p:tags r:id="rId13"/>
            </p:custDataLst>
          </p:nvPr>
        </p:nvSpPr>
        <p:spPr>
          <a:xfrm>
            <a:off x="678942" y="5122926"/>
            <a:ext cx="2036826" cy="877824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521100" y="112725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521100" y="1880550"/>
            <a:ext cx="8100000" cy="36099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521100" y="562451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3028950" y="562451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6563700" y="562451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700" b="1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565592" y="1870551"/>
            <a:ext cx="7100888" cy="1971676"/>
          </a:xfrm>
        </p:spPr>
        <p:txBody>
          <a:bodyPr>
            <a:normAutofit/>
          </a:bodyPr>
          <a:lstStyle/>
          <a:p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Mini-HPC &amp; Hybrid HPC-Big Data Cluster Project</a:t>
            </a:r>
            <a:endParaRPr lang="en-US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sp>
        <p:nvSpPr>
          <p:cNvPr id="11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latin typeface="Times New Roman" panose="02020603050405020304" charset="0"/>
                <a:ea typeface="+mn-ea"/>
                <a:cs typeface="Times New Roman" panose="02020603050405020304" charset="0"/>
              </a:rPr>
              <a:t>By:</a:t>
            </a:r>
            <a:endParaRPr lang="en-US"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ea typeface="+mn-ea"/>
                <a:cs typeface="Times New Roman" panose="02020603050405020304" charset="0"/>
              </a:rPr>
              <a:t>Menna khaled 221000165</a:t>
            </a:r>
            <a:endParaRPr lang="en-US"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Introduction</a:t>
            </a:r>
            <a:endParaRPr lang="en-US" sz="3200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High-Performance Computing (HPC) and Big Data systems enable distributed processing of large-scale computational workloads using multiple nodes</a:t>
            </a:r>
            <a:r>
              <a:rPr>
                <a:sym typeface="+mn-ea"/>
              </a:rPr>
              <a:t>.</a:t>
            </a:r>
            <a:endParaRPr>
              <a:solidFill>
                <a:schemeClr val="tx1"/>
              </a:solidFill>
            </a:endParaRPr>
          </a:p>
          <a:p>
            <a:endParaRPr lang="en-US">
              <a:ea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Project Objectives</a:t>
            </a:r>
            <a:endParaRPr lang="en-US" sz="3200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Build a 3-node cluster (1 master, 2 workers)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Configure networking and SSH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Implement MPI distributed computing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Deploy Docker Swarm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Build Apache Spark cluster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Run ML and bioinformatics workloads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endParaRPr lang="en-US" sz="2800">
              <a:solidFill>
                <a:schemeClr val="tx1"/>
              </a:solidFill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100" y="1880550"/>
            <a:ext cx="8100000" cy="36099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System Architecture</a:t>
            </a:r>
            <a:endParaRPr lang="en-US" sz="3200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3 Ubuntu 24.04 VMs: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Master Node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Worker Node 1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Worker Node 2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Configured using Host-Only VirtualBox network and passwordless SSH.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sz="2800">
              <a:solidFill>
                <a:schemeClr val="tx1"/>
              </a:solidFill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100" y="1880550"/>
            <a:ext cx="8100000" cy="36099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Mini-HPC (MPI)</a:t>
            </a:r>
            <a:endParaRPr lang="en-US" sz="3200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OpenMPI and mpi4py installed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Hostfile defines node slots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Workload distributed across nodes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Master collects and aggregates results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endParaRPr lang="en-US" sz="2800"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Benefits of MPI</a:t>
            </a:r>
            <a:endParaRPr lang="en-US" sz="3200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14" name="Content Placeholder 13"/>
          <p:cNvSpPr/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514350" indent="-514350">
              <a:buFont typeface="+mj-lt"/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Parallel execution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Reduced processing time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Efficient resource utilization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Scalable distributed computation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/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Hybrid HPC-Big Data (Docker Swarm)</a:t>
            </a:r>
            <a:endParaRPr lang="en-US" sz="3200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514350" indent="-514350">
              <a:buFont typeface="+mj-lt"/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Docker Swarm cluster setup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Master as manager node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Workers joined as swarm members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Service orchestration and container deployment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2800"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100" y="1880550"/>
            <a:ext cx="8100000" cy="36099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Apache </a:t>
            </a:r>
            <a:r>
              <a:rPr lang="en-US" sz="3200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Spark Cluster</a:t>
            </a:r>
            <a:endParaRPr lang="en-US" sz="3200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Spark Master + 2 Worker containers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Deployed via Docker Stack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Verified worker registration</a:t>
            </a:r>
            <a:endParaRPr sz="2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Enabled distributed data processing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2800"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100" y="1880550"/>
            <a:ext cx="8100000" cy="36099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Bioinformatics Application</a:t>
            </a:r>
            <a:endParaRPr lang="en-US" sz="3200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PySpark used for gene expression analysis: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Data preprocessing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Feature engineering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Machine learning model training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Distributed execution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endParaRPr lang="en-US" sz="2800"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100" y="1880550"/>
            <a:ext cx="8100000" cy="36099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Challenges</a:t>
            </a:r>
            <a:endParaRPr lang="en-US" sz="3200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Limited RAM (4GB environment)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Network configuration issues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SSH connectivity problems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Docker &amp; Spark setup debugging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Fully independent implementation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endParaRPr lang="en-US" sz="2800"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100" y="1880550"/>
            <a:ext cx="8100000" cy="36099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Results</a:t>
            </a:r>
            <a:endParaRPr lang="en-US" sz="3200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Successful MPI cluster execution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Successful Spark deployment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Verified distributed computation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Successful bioinformatics processing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2800"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100" y="1880550"/>
            <a:ext cx="8100000" cy="36099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Lessons Learned</a:t>
            </a:r>
            <a:endParaRPr lang="en-US" sz="3200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HPC &amp; distributed systems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MPI programming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Docker &amp; Spark orchestration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System troubleshooting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Cluster administration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2800"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100" y="1880550"/>
            <a:ext cx="8100000" cy="36099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itle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Conclusion</a:t>
            </a:r>
            <a:endParaRPr lang="en-US" sz="3200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Successfully built Mini-HPC and Hybrid HPC-Big Data clusters demonstrating scalable distributed computing for ML and bioinformatics workloads.</a:t>
            </a:r>
            <a:endParaRPr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sz="2800"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100" y="1880550"/>
            <a:ext cx="8100000" cy="36099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7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7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77_1*f*4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SLIDE_TYPE" val="text"/>
  <p:tag name="KSO_WM_BEAUTIFY_FLAG" val="#wm#"/>
</p:tagLst>
</file>

<file path=ppt/tags/tag82.xml><?xml version="1.0" encoding="utf-8"?>
<p:tagLst xmlns:p="http://schemas.openxmlformats.org/presentationml/2006/main">
  <p:tag name="KSO_WM_UNIT_TEXT" val="Introduc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85.xml><?xml version="1.0" encoding="utf-8"?>
<p:tagLst xmlns:p="http://schemas.openxmlformats.org/presentationml/2006/main">
  <p:tag name="KSO_WM_SLIDE_TYPE" val="text"/>
  <p:tag name="KSO_WM_BEAUTIFY_FLAG" val="#wm#"/>
</p:tagLst>
</file>

<file path=ppt/tags/tag86.xml><?xml version="1.0" encoding="utf-8"?>
<p:tagLst xmlns:p="http://schemas.openxmlformats.org/presentationml/2006/main">
  <p:tag name="KSO_WM_UNIT_TEXT" val="Project Objectiv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89.xml><?xml version="1.0" encoding="utf-8"?>
<p:tagLst xmlns:p="http://schemas.openxmlformats.org/presentationml/2006/main">
  <p:tag name="KSO_WM_SLIDE_TYPE" val="text"/>
  <p:tag name="KSO_WM_BEAUTIFY_FLAG" val="#wm#"/>
</p:tagLst>
</file>

<file path=ppt/tags/tag90.xml><?xml version="1.0" encoding="utf-8"?>
<p:tagLst xmlns:p="http://schemas.openxmlformats.org/presentationml/2006/main">
  <p:tag name="KSO_WM_UNIT_TEXT" val="System Architectur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SLIDE_TYPE" val="text"/>
  <p:tag name="KSO_WM_BEAUTIFY_FLAG" val="#wm#"/>
</p:tagLst>
</file>

<file path=ppt/tags/tag93.xml><?xml version="1.0" encoding="utf-8"?>
<p:tagLst xmlns:p="http://schemas.openxmlformats.org/presentationml/2006/main">
  <p:tag name="KSO_WM_UNIT_TEXT" val="Mini-HPC (MPI)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SLIDE_TYPE" val="text"/>
  <p:tag name="KSO_WM_BEAUTIFY_FLAG" val="#wm#"/>
</p:tagLst>
</file>

<file path=ppt/tags/tag96.xml><?xml version="1.0" encoding="utf-8"?>
<p:tagLst xmlns:p="http://schemas.openxmlformats.org/presentationml/2006/main">
  <p:tag name="KSO_WM_UNIT_TEXT" val="Benefits of MPI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9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99.xml><?xml version="1.0" encoding="utf-8"?>
<p:tagLst xmlns:p="http://schemas.openxmlformats.org/presentationml/2006/main">
  <p:tag name="KSO_WM_SLIDE_TYPE" val="text"/>
  <p:tag name="KSO_WM_BEAUTIFY_FLAG" val="#wm#"/>
</p:tagLst>
</file>

<file path=ppt/tags/tag100.xml><?xml version="1.0" encoding="utf-8"?>
<p:tagLst xmlns:p="http://schemas.openxmlformats.org/presentationml/2006/main">
  <p:tag name="KSO_WM_UNIT_TEXT" val="Hybrid HPC-Big Data (Docker Swarm)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03.xml><?xml version="1.0" encoding="utf-8"?>
<p:tagLst xmlns:p="http://schemas.openxmlformats.org/presentationml/2006/main">
  <p:tag name="KSO_WM_SLIDE_TYPE" val="text"/>
  <p:tag name="KSO_WM_BEAUTIFY_FLAG" val="#wm#"/>
</p:tagLst>
</file>

<file path=ppt/tags/tag104.xml><?xml version="1.0" encoding="utf-8"?>
<p:tagLst xmlns:p="http://schemas.openxmlformats.org/presentationml/2006/main">
  <p:tag name="KSO_WM_UNIT_TEXT" val="Apache Spark Cluster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07.xml><?xml version="1.0" encoding="utf-8"?>
<p:tagLst xmlns:p="http://schemas.openxmlformats.org/presentationml/2006/main">
  <p:tag name="KSO_WM_SLIDE_TYPE" val="text"/>
  <p:tag name="KSO_WM_BEAUTIFY_FLAG" val="#wm#"/>
</p:tagLst>
</file>

<file path=ppt/tags/tag108.xml><?xml version="1.0" encoding="utf-8"?>
<p:tagLst xmlns:p="http://schemas.openxmlformats.org/presentationml/2006/main">
  <p:tag name="KSO_WM_UNIT_TEXT" val="Bioinformatics Applica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0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11.xml><?xml version="1.0" encoding="utf-8"?>
<p:tagLst xmlns:p="http://schemas.openxmlformats.org/presentationml/2006/main">
  <p:tag name="KSO_WM_SLIDE_TYPE" val="text"/>
  <p:tag name="KSO_WM_BEAUTIFY_FLAG" val="#wm#"/>
</p:tagLst>
</file>

<file path=ppt/tags/tag112.xml><?xml version="1.0" encoding="utf-8"?>
<p:tagLst xmlns:p="http://schemas.openxmlformats.org/presentationml/2006/main">
  <p:tag name="KSO_WM_UNIT_TEXT" val="Challeng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1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15.xml><?xml version="1.0" encoding="utf-8"?>
<p:tagLst xmlns:p="http://schemas.openxmlformats.org/presentationml/2006/main">
  <p:tag name="KSO_WM_SLIDE_TYPE" val="text"/>
  <p:tag name="KSO_WM_BEAUTIFY_FLAG" val="#wm#"/>
</p:tagLst>
</file>

<file path=ppt/tags/tag116.xml><?xml version="1.0" encoding="utf-8"?>
<p:tagLst xmlns:p="http://schemas.openxmlformats.org/presentationml/2006/main">
  <p:tag name="KSO_WM_UNIT_TEXT" val="Result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1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19.xml><?xml version="1.0" encoding="utf-8"?>
<p:tagLst xmlns:p="http://schemas.openxmlformats.org/presentationml/2006/main">
  <p:tag name="KSO_WM_SLIDE_TYPE" val="text"/>
  <p:tag name="KSO_WM_BEAUTIFY_FLAG" val="#wm#"/>
</p:tagLst>
</file>

<file path=ppt/tags/tag120.xml><?xml version="1.0" encoding="utf-8"?>
<p:tagLst xmlns:p="http://schemas.openxmlformats.org/presentationml/2006/main">
  <p:tag name="KSO_WM_UNIT_TEXT" val="Lessons Learned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2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23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89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C000"/>
      </a:accent1>
      <a:accent2>
        <a:srgbClr val="FF7A00"/>
      </a:accent2>
      <a:accent3>
        <a:srgbClr val="FF9900"/>
      </a:accent3>
      <a:accent4>
        <a:srgbClr val="75BD42"/>
      </a:accent4>
      <a:accent5>
        <a:srgbClr val="30C0B4"/>
      </a:accent5>
      <a:accent6>
        <a:srgbClr val="E54C5E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1880</Words>
  <Application>WPS Presentation</Application>
  <PresentationFormat>On-screen Show (4:3)</PresentationFormat>
  <Paragraphs>101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Wingdings</vt:lpstr>
      <vt:lpstr>Charis SIL</vt:lpstr>
      <vt:lpstr>Segoe Print</vt:lpstr>
      <vt:lpstr>Crimson Text SemiBold</vt:lpstr>
      <vt:lpstr>Lato</vt:lpstr>
      <vt:lpstr>Manrope ExtraBold</vt:lpstr>
      <vt:lpstr>Times New Roman</vt:lpstr>
      <vt:lpstr>Office Theme</vt:lpstr>
      <vt:lpstr>1_Office Theme</vt:lpstr>
      <vt:lpstr>The title goes here</vt:lpstr>
      <vt:lpstr>Introduction</vt:lpstr>
      <vt:lpstr>Project Objectives</vt:lpstr>
      <vt:lpstr>System Architecture</vt:lpstr>
      <vt:lpstr>Mini-HPC (MPI)</vt:lpstr>
      <vt:lpstr>Benefits of MPI</vt:lpstr>
      <vt:lpstr>Hybrid HPC-Big Data (Docker Swarm)</vt:lpstr>
      <vt:lpstr>Apache Spark Cluster</vt:lpstr>
      <vt:lpstr>Bioinformatics Application</vt:lpstr>
      <vt:lpstr>Challenges</vt:lpstr>
      <vt:lpstr>Results</vt:lpstr>
      <vt:lpstr>Lessons Learned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Its Menna</cp:lastModifiedBy>
  <cp:revision>2</cp:revision>
  <dcterms:created xsi:type="dcterms:W3CDTF">2013-01-27T09:14:00Z</dcterms:created>
  <dcterms:modified xsi:type="dcterms:W3CDTF">2026-06-04T00:45:49Z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ECAEF8DF580F4AEDA4D0482D288841F1_13</vt:lpwstr>
  </property>
</Properties>
</file>